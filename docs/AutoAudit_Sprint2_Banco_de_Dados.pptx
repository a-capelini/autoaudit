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20939b5-97bf-738a-95ae-2ec8028ec423}">
          <p14:sldIdLst>
            <p14:sldId id="256"/>
          </p14:sldIdLst>
        </p14:section>
        <p14:section name="Contexto" id="{8f46092b-c281-81c0-ac27-96fc7baa636a}">
          <p14:sldIdLst>
            <p14:sldId id="257"/>
          </p14:sldIdLst>
        </p14:section>
        <p14:section name="Modelo de dados" id="{71bc6621-e829-f0d7-65c8-5a74b51c9b5c}">
          <p14:sldIdLst>
            <p14:sldId id="258"/>
            <p14:sldId id="259"/>
            <p14:sldId id="260"/>
          </p14:sldIdLst>
        </p14:section>
        <p14:section name="Integridade" id="{4ddb71b7-9822-31f2-1f66-4bd5d95cd9d6}">
          <p14:sldIdLst>
            <p14:sldId id="261"/>
          </p14:sldIdLst>
        </p14:section>
        <p14:section name="Demonstração" id="{91b690d2-137e-a24f-65a0-3f9f4a7b238f}">
          <p14:sldIdLst>
            <p14:sldId id="262"/>
          </p14:sldIdLst>
        </p14:section>
        <p14:section name="Fechamento" id="{35cf7750-c136-c1fd-e0c9-92ee2a82710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O AutoAudit audita políticas de segurança com PLN e atribui uma nota de Saúde de Compliance de 0 a 5. Hoje é a entrega da Sprint 2: o banco de dados. O foco é mostrar o modelo, as regras de integridade e o CRUD funcionando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(30 s). Sprint 1 foi entregue em 13/10 e a interface já está publicada no Streamlit Cloud. Hoje fechamos a Sprint 2. A Sprint 3 liga o backend ao banco e a apresentação final é em 24/11.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(30 s). O banco tem 3 coleções. A base de normas tem 1.087 documentos: 1.014 controles do NIST e 73 artigos da LGPD. Há 6 auditorias e 3 relatórios de exemplo, só para demonstrar. O índice FAISS tem 1.705 vetores porque normas longas são divididas em trechos; o Mongo guarda só os ids que ligam o vetor ao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(1,5 min). Três coleções. Uma auditoria tem zero ou um relatório: auditoria pendente, em processamento ou com erro ainda não tem relatório. O relatório contém as lacunas e as verificações práticas embutidas (tracejado). Cada lacuna aponta para uma ou mais normas por normas_ref, e as normas se relacionam entre si pelos mapeamentos (por exemplo, NIST com CIS). O DER completo, com todos os campos, está em docs/der/der_autoaudit.png e o dicionário de dados em docs/dicionario_dados.md.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(1 min). Embutimos o que é sempre lido junto: lacunas e verificações dentro do relatório. Referenciamos o que é compartilhado: as normas. Por isso a relação lacuna-norma é N:M. Os embeddings ficam no FAISS, e o Mongo guarda os ids dos vetores (faiss_ids).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Integridade (1,5 min). O MongoDB não tem chave estrangeira, então garantimos a integridade em três camadas: índices únicos, validador de schema e o repositório em Python. Como o MongoDB do Docker é uma instância única, não há transações multi-documento. Para compensar, a ordem importa: se o processo cair ao apagar, sobra uma auditoria sem relatório, que é um estado válido; na ordem inversa sobraria um relatório órfão. Limitação assumida: as checagens do repositório não são atômicas.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 (4 min). Sair da apresentação e alternar para o terminal e o navegador. Rodar python db/demo_crud.py SEM --sem-pausa. A cada Enter, executa um passo. Atualizar a LISTA de relatórios, auditorias e normas no mongo-express nas pausas dos passos 2 e 4 (aparecem o relatório demo_crud_politica_seguranca.pdf e a norma SANS:DEMO-CRUD-001). O relatório da Nimbus é dado fixo de exemplo e não muda. No passo 4 explicar as 4 recusas. No passo 5 mostrar que o banco volta a 1.087 / 6 /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(1 min). O banco está pronto e replicável: qualquer integrante recria o ambiente com o dump e os roteiros. A Sprint 3 liga o backend ao banco, carrega mais normas e implementa a Verificação Prática. Apresentação final em 24/11.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Perguntas. Respostas prontas estão em docs/roteiro_demonstracao.md (seção Perguntas prováveis).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ESCUR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AutoAudit — PLN · Fatec Cotia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AutoAudit — PLN · Fatec Cotia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FATEC COTIA · CIÊNCIA DE DADOS · PLN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AutoAudit</a:t>
            </a:r>
            <a:endParaRPr lang="en-US" sz="54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Sprint 2 — Banco de dados</a:t>
            </a:r>
            <a:endParaRPr lang="en-US" sz="2400" dirty="0"/>
          </a:p>
        </p:txBody>
      </p:sp>
      <p:sp>
        <p:nvSpPr>
          <p:cNvPr id="5" name="Descrição"/>
          <p:cNvSpPr txBox="1"/>
          <p:nvPr/>
        </p:nvSpPr>
        <p:spPr>
          <a:xfrm>
            <a:off x="5486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Modelagem em MongoDB, base de normas e CRUD funcionando</a:t>
            </a:r>
            <a:endParaRPr lang="en-US" sz="1600" dirty="0"/>
          </a:p>
        </p:txBody>
      </p:sp>
      <p:sp>
        <p:nvSpPr>
          <p:cNvPr id="6" name="Equipe"/>
          <p:cNvSpPr txBox="1"/>
          <p:nvPr/>
        </p:nvSpPr>
        <p:spPr>
          <a:xfrm>
            <a:off x="548640" y="3840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Anderson Capelini Andrade · RA 2701352423046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Moisés Germano Leite · RA 2701352423043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Prof. Braz Izaias da Silva Junior · 20/10/2026</a:t>
            </a:r>
            <a:endParaRPr lang="en-US" sz="1200" dirty="0"/>
          </a:p>
        </p:txBody>
      </p:sp>
      <p:sp>
        <p:nvSpPr>
          <p:cNvPr id="7" name="Coleção normas"/>
          <p:cNvSpPr/>
          <p:nvPr/>
        </p:nvSpPr>
        <p:spPr>
          <a:xfrm>
            <a:off x="6035040" y="10972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2070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normas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207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1.087</a:t>
            </a:r>
            <a:endParaRPr lang="en-US" sz="2400" dirty="0"/>
          </a:p>
        </p:txBody>
      </p:sp>
      <p:sp>
        <p:nvSpPr>
          <p:cNvPr id="10" name="Coleção auditorias"/>
          <p:cNvSpPr/>
          <p:nvPr/>
        </p:nvSpPr>
        <p:spPr>
          <a:xfrm>
            <a:off x="6035040" y="214884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25856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auditorias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2585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6</a:t>
            </a:r>
            <a:endParaRPr lang="en-US" sz="2400" dirty="0"/>
          </a:p>
        </p:txBody>
      </p:sp>
      <p:sp>
        <p:nvSpPr>
          <p:cNvPr id="13" name="Coleção relatórios"/>
          <p:cNvSpPr/>
          <p:nvPr/>
        </p:nvSpPr>
        <p:spPr>
          <a:xfrm>
            <a:off x="6035040" y="320040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3101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relatórios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310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cronograma</a:t>
            </a:r>
            <a:endParaRPr lang="en-US" sz="3200" dirty="0"/>
          </a:p>
        </p:txBody>
      </p:sp>
      <p:sp>
        <p:nvSpPr>
          <p:cNvPr id="3" name="Linha do tempo"/>
          <p:cNvSpPr/>
          <p:nvPr/>
        </p:nvSpPr>
        <p:spPr>
          <a:xfrm>
            <a:off x="1143000" y="1783080"/>
            <a:ext cx="68580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4" name="Cartão sprint 1"/>
          <p:cNvSpPr/>
          <p:nvPr/>
        </p:nvSpPr>
        <p:spPr>
          <a:xfrm>
            <a:off x="457200" y="22860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5" name="Marcador sprint 1"/>
          <p:cNvSpPr/>
          <p:nvPr/>
        </p:nvSpPr>
        <p:spPr>
          <a:xfrm>
            <a:off x="1143000" y="141732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Interface Streamlit publicada na nuvem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Entregue em 13/10</a:t>
            </a:r>
            <a:endParaRPr lang="en-US" sz="1400" dirty="0"/>
          </a:p>
        </p:txBody>
      </p:sp>
      <p:sp>
        <p:nvSpPr>
          <p:cNvPr id="11" name="Cartão sprint 2"/>
          <p:cNvSpPr/>
          <p:nvPr/>
        </p:nvSpPr>
        <p:spPr>
          <a:xfrm>
            <a:off x="2560320" y="22860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Marcador sprint 2"/>
          <p:cNvSpPr/>
          <p:nvPr/>
        </p:nvSpPr>
        <p:spPr>
          <a:xfrm>
            <a:off x="3246120" y="1417320"/>
            <a:ext cx="731520" cy="73152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SPRINT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Banco de dados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DER, coleções e CRUD no MongoDB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Hoje · 20/10</a:t>
            </a:r>
            <a:endParaRPr lang="en-US" sz="1400" dirty="0"/>
          </a:p>
        </p:txBody>
      </p:sp>
      <p:sp>
        <p:nvSpPr>
          <p:cNvPr id="18" name="Cartão sprint 3"/>
          <p:cNvSpPr/>
          <p:nvPr/>
        </p:nvSpPr>
        <p:spPr>
          <a:xfrm>
            <a:off x="4663440" y="22860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9" name="Marcador sprint 3"/>
          <p:cNvSpPr/>
          <p:nvPr/>
        </p:nvSpPr>
        <p:spPr>
          <a:xfrm>
            <a:off x="5349240" y="1417320"/>
            <a:ext cx="731520" cy="73152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SPRINT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FastAPI e motor de PLN gravando no banco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Em seguida</a:t>
            </a:r>
            <a:endParaRPr lang="en-US" sz="1400" dirty="0"/>
          </a:p>
        </p:txBody>
      </p:sp>
      <p:sp>
        <p:nvSpPr>
          <p:cNvPr id="25" name="Cartão sprint 4"/>
          <p:cNvSpPr/>
          <p:nvPr/>
        </p:nvSpPr>
        <p:spPr>
          <a:xfrm>
            <a:off x="6766560" y="22860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6" name="Marcador sprint 4"/>
          <p:cNvSpPr/>
          <p:nvPr/>
        </p:nvSpPr>
        <p:spPr>
          <a:xfrm>
            <a:off x="7452360" y="1417320"/>
            <a:ext cx="731520" cy="73152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SPRINT 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Apresentação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Preparação e entrega final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24/11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banco em números</a:t>
            </a:r>
            <a:endParaRPr lang="en-US" sz="3200" dirty="0"/>
          </a:p>
        </p:txBody>
      </p:sp>
      <p:sp>
        <p:nvSpPr>
          <p:cNvPr id="3" name="Cartão número 1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undo ícone 1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coleções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normas, auditorias e relatórios</a:t>
            </a:r>
            <a:endParaRPr lang="en-US" sz="1200" dirty="0"/>
          </a:p>
        </p:txBody>
      </p:sp>
      <p:sp>
        <p:nvSpPr>
          <p:cNvPr id="9" name="Cartão número 2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Fundo ícone 2"/>
          <p:cNvSpPr/>
          <p:nvPr/>
        </p:nvSpPr>
        <p:spPr>
          <a:xfrm>
            <a:off x="26974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1.087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NIST SP 800-53 (1.014) e LGPD (73)</a:t>
            </a:r>
            <a:endParaRPr lang="en-US" sz="1200" dirty="0"/>
          </a:p>
        </p:txBody>
      </p:sp>
      <p:sp>
        <p:nvSpPr>
          <p:cNvPr id="15" name="Cartão número 3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Fundo ícone 3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006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3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auditorias · relatórios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dados de exemplo para demonstrar</a:t>
            </a:r>
            <a:endParaRPr lang="en-US" sz="1200" dirty="0"/>
          </a:p>
        </p:txBody>
      </p:sp>
      <p:sp>
        <p:nvSpPr>
          <p:cNvPr id="21" name="Cartão número 4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2" name="Fundo ícone 4"/>
          <p:cNvSpPr/>
          <p:nvPr/>
        </p:nvSpPr>
        <p:spPr>
          <a:xfrm>
            <a:off x="69037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002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1.705</a:t>
            </a:r>
            <a:endParaRPr lang="en-US" sz="36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vetores FAISS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768 dimensões, busca semântica</a:t>
            </a:r>
            <a:endParaRPr lang="en-US" sz="1200" dirty="0"/>
          </a:p>
        </p:txBody>
      </p:sp>
      <p:sp>
        <p:nvSpPr>
          <p:cNvPr id="27" name="Stack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MongoDB 7 em Docker · pymongo · validação por $jsonSchema · cada integrante roda a sua instância 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 (DER)</a:t>
            </a:r>
            <a:endParaRPr lang="en-US" sz="3200" dirty="0"/>
          </a:p>
        </p:txBody>
      </p:sp>
      <p:sp>
        <p:nvSpPr>
          <p:cNvPr id="3" name="Entidade AUDITORIAS"/>
          <p:cNvSpPr/>
          <p:nvPr/>
        </p:nvSpPr>
        <p:spPr>
          <a:xfrm>
            <a:off x="457200" y="137160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Cabeçalho AUDITORIAS"/>
          <p:cNvSpPr/>
          <p:nvPr/>
        </p:nvSpPr>
        <p:spPr>
          <a:xfrm>
            <a:off x="457200" y="137160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AUDITORIAS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arquivo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sha256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com_verificacao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criada_em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concluida_em</a:t>
            </a:r>
            <a:endParaRPr lang="en-US" sz="1200" dirty="0"/>
          </a:p>
        </p:txBody>
      </p:sp>
      <p:sp>
        <p:nvSpPr>
          <p:cNvPr id="7" name="Entidade RELATÓRIOS"/>
          <p:cNvSpPr/>
          <p:nvPr/>
        </p:nvSpPr>
        <p:spPr>
          <a:xfrm>
            <a:off x="3291840" y="118872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Cabeçalho RELATÓRIOS"/>
          <p:cNvSpPr/>
          <p:nvPr/>
        </p:nvSpPr>
        <p:spPr>
          <a:xfrm>
            <a:off x="3291840" y="118872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RELATÓRIOS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468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nota_documental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nota_pratica (pode ser nula)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saude_compliance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feedback_analista</a:t>
            </a:r>
            <a:endParaRPr lang="en-US" sz="1200" dirty="0"/>
          </a:p>
        </p:txBody>
      </p:sp>
      <p:sp>
        <p:nvSpPr>
          <p:cNvPr id="11" name="Entidade NORMAS"/>
          <p:cNvSpPr/>
          <p:nvPr/>
        </p:nvSpPr>
        <p:spPr>
          <a:xfrm>
            <a:off x="676656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Cabeçalho NORMAS"/>
          <p:cNvSpPr/>
          <p:nvPr/>
        </p:nvSpPr>
        <p:spPr>
          <a:xfrm>
            <a:off x="676656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NORMAS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74520"/>
            <a:ext cx="1645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fonte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identificador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titulo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texto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mapeamentos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faiss_ids</a:t>
            </a:r>
            <a:endParaRPr lang="en-US" sz="1200" dirty="0"/>
          </a:p>
        </p:txBody>
      </p:sp>
      <p:sp>
        <p:nvSpPr>
          <p:cNvPr id="15" name="Subdocumento LACUNAS[]"/>
          <p:cNvSpPr/>
          <p:nvPr/>
        </p:nvSpPr>
        <p:spPr>
          <a:xfrm>
            <a:off x="3429000" y="2743200"/>
            <a:ext cx="2468880" cy="777240"/>
          </a:xfrm>
          <a:prstGeom prst="roundRect">
            <a:avLst>
              <a:gd name="adj" fmla="val 7059"/>
            </a:avLst>
          </a:prstGeom>
          <a:solidFill>
            <a:schemeClr val="accent6">
              <a:alpha val="3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20440" y="2743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LACUNAS[]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clausula, severidade, problema, sugestao, normas_ref</a:t>
            </a:r>
            <a:endParaRPr lang="en-US" sz="1200" dirty="0"/>
          </a:p>
        </p:txBody>
      </p:sp>
      <p:sp>
        <p:nvSpPr>
          <p:cNvPr id="17" name="Subdocumento VERIFICACOES[]"/>
          <p:cNvSpPr/>
          <p:nvPr/>
        </p:nvSpPr>
        <p:spPr>
          <a:xfrm>
            <a:off x="3429000" y="3611880"/>
            <a:ext cx="2468880" cy="777240"/>
          </a:xfrm>
          <a:prstGeom prst="roundRect">
            <a:avLst>
              <a:gd name="adj" fmla="val 7059"/>
            </a:avLst>
          </a:prstGeom>
          <a:solidFill>
            <a:schemeClr val="accent6">
              <a:alpha val="3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5204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VERIFICACOES[]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controle, acao, alvo, esperado, observado, status</a:t>
            </a:r>
            <a:endParaRPr lang="en-US" sz="1200" dirty="0"/>
          </a:p>
        </p:txBody>
      </p:sp>
      <p:sp>
        <p:nvSpPr>
          <p:cNvPr id="19" name="Relação auditoria-relatório"/>
          <p:cNvSpPr/>
          <p:nvPr/>
        </p:nvSpPr>
        <p:spPr>
          <a:xfrm>
            <a:off x="2560320" y="2743200"/>
            <a:ext cx="731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 : 0..1</a:t>
            </a:r>
            <a:endParaRPr lang="en-US" sz="1200" dirty="0"/>
          </a:p>
        </p:txBody>
      </p:sp>
      <p:sp>
        <p:nvSpPr>
          <p:cNvPr id="21" name="Relação lacuna-norma"/>
          <p:cNvSpPr/>
          <p:nvPr/>
        </p:nvSpPr>
        <p:spPr>
          <a:xfrm>
            <a:off x="5897880" y="3127248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2788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 : 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200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normas_ref</a:t>
            </a:r>
            <a:endParaRPr lang="en-US" sz="1100" dirty="0"/>
          </a:p>
        </p:txBody>
      </p:sp>
      <p:sp>
        <p:nvSpPr>
          <p:cNvPr id="24" name="Legenda DER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Tracejado: subdocumentos embutidos no relatório · DER completo em docs/der/der_autoaudit.png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Embutir ou referenciar?</a:t>
            </a:r>
            <a:endParaRPr lang="en-US" sz="3200" dirty="0"/>
          </a:p>
        </p:txBody>
      </p:sp>
      <p:sp>
        <p:nvSpPr>
          <p:cNvPr id="3" name="Cartão Embutido no relatório"/>
          <p:cNvSpPr/>
          <p:nvPr/>
        </p:nvSpPr>
        <p:spPr>
          <a:xfrm>
            <a:off x="457200" y="118872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undo ícone Embutido no relatório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996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Embutido no relatório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lacunas, verificacoes e feedback_analista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Sempre lidos junto com o relatório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Uma única leitura, sem junções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Cabem com folga no limite de 16 MiB</a:t>
            </a:r>
            <a:endParaRPr lang="en-US" sz="1400" dirty="0"/>
          </a:p>
        </p:txBody>
      </p:sp>
      <p:sp>
        <p:nvSpPr>
          <p:cNvPr id="8" name="Cartão Referenciado"/>
          <p:cNvSpPr/>
          <p:nvPr/>
        </p:nvSpPr>
        <p:spPr>
          <a:xfrm>
            <a:off x="4663440" y="118872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Fundo ícone Referenciado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4996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Referenciado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normas, citadas por lacunas[].normas_ref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Uma norma serve a vários relatórios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mapeamentos ligam normas entre si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Relação N:M entre lacunas e normas</a:t>
            </a:r>
            <a:endParaRPr lang="en-US" sz="1400" dirty="0"/>
          </a:p>
        </p:txBody>
      </p:sp>
      <p:sp>
        <p:nvSpPr>
          <p:cNvPr id="13" name="Faixa auditoria"/>
          <p:cNvSpPr/>
          <p:nvPr/>
        </p:nvSpPr>
        <p:spPr>
          <a:xfrm>
            <a:off x="457200" y="361188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008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Auditoria 1 : 0..1 relatório</a:t>
            </a:r>
            <a:endParaRPr lang="en-US" sz="1800" dirty="0"/>
          </a:p>
        </p:txBody>
      </p:sp>
      <p:sp>
        <p:nvSpPr>
          <p:cNvPr id="15" name="Faixa FAISS"/>
          <p:cNvSpPr/>
          <p:nvPr/>
        </p:nvSpPr>
        <p:spPr>
          <a:xfrm>
            <a:off x="4663440" y="361188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84632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Vetores no FAISS, ids no MongoDB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sem chave estrangeira</a:t>
            </a:r>
            <a:endParaRPr lang="en-US" sz="3200" dirty="0"/>
          </a:p>
        </p:txBody>
      </p:sp>
      <p:sp>
        <p:nvSpPr>
          <p:cNvPr id="3" name="Cartão camada 1"/>
          <p:cNvSpPr/>
          <p:nvPr/>
        </p:nvSpPr>
        <p:spPr>
          <a:xfrm>
            <a:off x="457200" y="118872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Número camada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Índices únicos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Uma norma por fonte e identificador. Um relatório por auditoria.</a:t>
            </a:r>
            <a:endParaRPr lang="en-US" sz="1400" dirty="0"/>
          </a:p>
        </p:txBody>
      </p:sp>
      <p:sp>
        <p:nvSpPr>
          <p:cNvPr id="8" name="Cartão camada 2"/>
          <p:cNvSpPr/>
          <p:nvPr/>
        </p:nvSpPr>
        <p:spPr>
          <a:xfrm>
            <a:off x="3291840" y="118872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Número camada 2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Validador do schema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$jsonSchema no MongoDB: tipos, domínios, notas de 0 a 5 e severidade alta, média ou baixa.</a:t>
            </a:r>
            <a:endParaRPr lang="en-US" sz="1400" dirty="0"/>
          </a:p>
        </p:txBody>
      </p:sp>
      <p:sp>
        <p:nvSpPr>
          <p:cNvPr id="13" name="Cartão camada 3"/>
          <p:cNvSpPr/>
          <p:nvPr/>
        </p:nvSpPr>
        <p:spPr>
          <a:xfrm>
            <a:off x="6126480" y="118872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Número camada 3"/>
          <p:cNvSpPr/>
          <p:nvPr/>
        </p:nvSpPr>
        <p:spPr>
          <a:xfrm>
            <a:off x="630936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Repositório (Python)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Auditoria antes do relatório. Norma citada não é apagada. Relatório sai antes da auditoria.</a:t>
            </a:r>
            <a:endParaRPr lang="en-US" sz="1400" dirty="0"/>
          </a:p>
        </p:txBody>
      </p:sp>
      <p:sp>
        <p:nvSpPr>
          <p:cNvPr id="18" name="Faixa transações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Sem transações (MongoDB standalone): a ordem das operações deixa sempre um estado válido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Agora, a parte prática</a:t>
            </a:r>
            <a:endParaRPr lang="en-US" sz="3200" dirty="0"/>
          </a:p>
        </p:txBody>
      </p:sp>
      <p:sp>
        <p:nvSpPr>
          <p:cNvPr id="3" name="Comando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db/demo_crud.py</a:t>
            </a:r>
            <a:endParaRPr lang="en-US" sz="2000" dirty="0"/>
          </a:p>
        </p:txBody>
      </p:sp>
      <p:sp>
        <p:nvSpPr>
          <p:cNvPr id="4" name="Passo CREATE"/>
          <p:cNvSpPr/>
          <p:nvPr/>
        </p:nvSpPr>
        <p:spPr>
          <a:xfrm>
            <a:off x="457200" y="2011680"/>
            <a:ext cx="1508760" cy="201168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CREATE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cria norma, auditoria e relatório</a:t>
            </a:r>
            <a:endParaRPr lang="en-US" sz="1400" dirty="0"/>
          </a:p>
        </p:txBody>
      </p:sp>
      <p:sp>
        <p:nvSpPr>
          <p:cNvPr id="8" name="Passo READ"/>
          <p:cNvSpPr/>
          <p:nvPr/>
        </p:nvSpPr>
        <p:spPr>
          <a:xfrm>
            <a:off x="2103120" y="2011680"/>
            <a:ext cx="1508760" cy="201168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consulta por id, hash e histórico</a:t>
            </a:r>
            <a:endParaRPr lang="en-US" sz="1400" dirty="0"/>
          </a:p>
        </p:txBody>
      </p:sp>
      <p:sp>
        <p:nvSpPr>
          <p:cNvPr id="12" name="Passo UPDATE"/>
          <p:cNvSpPr/>
          <p:nvPr/>
        </p:nvSpPr>
        <p:spPr>
          <a:xfrm>
            <a:off x="3749040" y="2011680"/>
            <a:ext cx="1508760" cy="201168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UPDATE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muda status, notas e feedback</a:t>
            </a:r>
            <a:endParaRPr lang="en-US" sz="1400" dirty="0"/>
          </a:p>
        </p:txBody>
      </p:sp>
      <p:sp>
        <p:nvSpPr>
          <p:cNvPr id="16" name="Passo REGRAS"/>
          <p:cNvSpPr/>
          <p:nvPr/>
        </p:nvSpPr>
        <p:spPr>
          <a:xfrm>
            <a:off x="5394960" y="2011680"/>
            <a:ext cx="1508760" cy="201168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REGRAS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 recusas esperadas</a:t>
            </a:r>
            <a:endParaRPr lang="en-US" sz="1400" dirty="0"/>
          </a:p>
        </p:txBody>
      </p:sp>
      <p:sp>
        <p:nvSpPr>
          <p:cNvPr id="20" name="Passo DELETE"/>
          <p:cNvSpPr/>
          <p:nvPr/>
        </p:nvSpPr>
        <p:spPr>
          <a:xfrm>
            <a:off x="7040880" y="2011680"/>
            <a:ext cx="1508760" cy="201168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DELETE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apaga na ordem certa</a:t>
            </a:r>
            <a:endParaRPr lang="en-US" sz="1400" dirty="0"/>
          </a:p>
        </p:txBody>
      </p:sp>
      <p:sp>
        <p:nvSpPr>
          <p:cNvPr id="24" name="Dica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Ao lado, o mongo-express (localhost:8081) mostra o banco mudando a cada passo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 seguir</a:t>
            </a:r>
            <a:endParaRPr lang="en-US" sz="3200" dirty="0"/>
          </a:p>
        </p:txBody>
      </p:sp>
      <p:sp>
        <p:nvSpPr>
          <p:cNvPr id="3" name="Cartão passo 1"/>
          <p:cNvSpPr/>
          <p:nvPr/>
        </p:nvSpPr>
        <p:spPr>
          <a:xfrm>
            <a:off x="457200" y="1188720"/>
            <a:ext cx="4937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undo ícone passo 1"/>
          <p:cNvSpPr/>
          <p:nvPr/>
        </p:nvSpPr>
        <p:spPr>
          <a:xfrm>
            <a:off x="594360" y="13167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3560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(Sprint 3)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FastAPI gravando e lendo o relatório no banco</a:t>
            </a:r>
            <a:endParaRPr lang="en-US" sz="1600" dirty="0"/>
          </a:p>
        </p:txBody>
      </p:sp>
      <p:sp>
        <p:nvSpPr>
          <p:cNvPr id="7" name="Cartão passo 2"/>
          <p:cNvSpPr/>
          <p:nvPr/>
        </p:nvSpPr>
        <p:spPr>
          <a:xfrm>
            <a:off x="457200" y="2011680"/>
            <a:ext cx="4937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Fundo ícone passo 2"/>
          <p:cNvSpPr/>
          <p:nvPr/>
        </p:nvSpPr>
        <p:spPr>
          <a:xfrm>
            <a:off x="594360" y="2139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856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01168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Mais normas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CIS Controls v8 e templates do SANS, com mapeamentos</a:t>
            </a:r>
            <a:endParaRPr lang="en-US" sz="1600" dirty="0"/>
          </a:p>
        </p:txBody>
      </p:sp>
      <p:sp>
        <p:nvSpPr>
          <p:cNvPr id="11" name="Cartão passo 3"/>
          <p:cNvSpPr/>
          <p:nvPr/>
        </p:nvSpPr>
        <p:spPr>
          <a:xfrm>
            <a:off x="457200" y="2834640"/>
            <a:ext cx="4937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Fundo ícone passo 3"/>
          <p:cNvSpPr/>
          <p:nvPr/>
        </p:nvSpPr>
        <p:spPr>
          <a:xfrm>
            <a:off x="59436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815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83464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 Prática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testes reais em laboratório isolado (nmap e ZAP)</a:t>
            </a:r>
            <a:endParaRPr lang="en-US" sz="1600" dirty="0"/>
          </a:p>
        </p:txBody>
      </p:sp>
      <p:sp>
        <p:nvSpPr>
          <p:cNvPr id="15" name="Cartão passo 4"/>
          <p:cNvSpPr/>
          <p:nvPr/>
        </p:nvSpPr>
        <p:spPr>
          <a:xfrm>
            <a:off x="457200" y="3657600"/>
            <a:ext cx="4937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Fundo ícone passo 4"/>
          <p:cNvSpPr/>
          <p:nvPr/>
        </p:nvSpPr>
        <p:spPr>
          <a:xfrm>
            <a:off x="594360" y="37856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90448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36576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Apresentação final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24/11, com o sistema de ponta a ponta</a:t>
            </a:r>
            <a:endParaRPr lang="en-US" sz="1600" dirty="0"/>
          </a:p>
        </p:txBody>
      </p:sp>
      <p:sp>
        <p:nvSpPr>
          <p:cNvPr id="19" name="Cartão entregue"/>
          <p:cNvSpPr/>
          <p:nvPr/>
        </p:nvSpPr>
        <p:spPr>
          <a:xfrm>
            <a:off x="5623560" y="1188720"/>
            <a:ext cx="3063240" cy="3182112"/>
          </a:xfrm>
          <a:prstGeom prst="roundRect">
            <a:avLst>
              <a:gd name="adj" fmla="val 2388"/>
            </a:avLst>
          </a:prstGeom>
          <a:solidFill>
            <a:schemeClr val="accent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Entregue com o banco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852160" y="192024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DER e dicionário de dados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CRUD e demonstração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Dump para replicação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Roteiros para Linux e Windows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6"/>
                </a:solidFill>
              </a:rPr>
              <a:t>Perguntas?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Anderson Capelini Andrade · RA 2701352423046   |   Moisés Germano Leite · RA 2701352423043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Audit">
  <a:themeElements>
    <a:clrScheme name="AutoAudit">
      <a:dk1>
        <a:srgbClr val="14213D"/>
      </a:dk1>
      <a:lt1>
        <a:srgbClr val="FFFFFF"/>
      </a:lt1>
      <a:dk2>
        <a:srgbClr val="0F766E"/>
      </a:dk2>
      <a:lt2>
        <a:srgbClr val="F6F8FA"/>
      </a:lt2>
      <a:accent1>
        <a:srgbClr val="0F766E"/>
      </a:accent1>
      <a:accent2>
        <a:srgbClr val="14213D"/>
      </a:accent2>
      <a:accent3>
        <a:srgbClr val="B45309"/>
      </a:accent3>
      <a:accent4>
        <a:srgbClr val="B42318"/>
      </a:accent4>
      <a:accent5>
        <a:srgbClr val="475467"/>
      </a:accent5>
      <a:accent6>
        <a:srgbClr val="5EEAD4"/>
      </a:accent6>
      <a:hlink>
        <a:srgbClr val="0F766E"/>
      </a:hlink>
      <a:folHlink>
        <a:srgbClr val="475467"/>
      </a:folHlink>
    </a:clrScheme>
    <a:fontScheme name="Auto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AutoAudit — Sprint 2: Banco de dados</dc:title>
  <dc:subject>Entrega do banco de dados (MongoDB) — PLN, Fatec Cotia</dc:subject>
  <dc:creator>Anderson Capelini Andrade e Moisés Germano Leite</dc:creator>
  <cp:lastModifiedBy>Anderson Capelini Andrade e Moisés Germano Leite</cp:lastModifiedBy>
  <cp:revision>1</cp:revision>
  <dcterms:created xsi:type="dcterms:W3CDTF">2026-10-18T00:58:51Z</dcterms:created>
  <dcterms:modified xsi:type="dcterms:W3CDTF">2026-10-18T00:58:51Z</dcterms:modified>
</cp:coreProperties>
</file>
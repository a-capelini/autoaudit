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af6b91f-9df6-00bc-220f-6050c5e7c5d4}">
          <p14:sldIdLst>
            <p14:sldId id="256"/>
          </p14:sldIdLst>
        </p14:section>
        <p14:section name="Contexto" id="{ed12f371-620d-f898-605d-f7f0b4e76a16}">
          <p14:sldIdLst>
            <p14:sldId id="257"/>
            <p14:sldId id="258"/>
          </p14:sldIdLst>
        </p14:section>
        <p14:section name="Telas" id="{08808bbc-6b9a-c691-a62b-ec77912a7cd7}">
          <p14:sldIdLst>
            <p14:sldId id="259"/>
            <p14:sldId id="260"/>
            <p14:sldId id="261"/>
            <p14:sldId id="262"/>
          </p14:sldIdLst>
        </p14:section>
        <p14:section name="Integração" id="{83d02cfb-cf5d-b7e4-dea5-0b420a4eca34}">
          <p14:sldIdLst>
            <p14:sldId id="263"/>
          </p14:sldIdLst>
        </p14:section>
        <p14:section name="Demonstração" id="{bdffbb54-4db9-ac7d-1b05-f6116bf82612}">
          <p14:sldIdLst>
            <p14:sldId id="264"/>
          </p14:sldIdLst>
        </p14:section>
        <p14:section name="Fechamento" id="{625db775-17ea-67b9-b15d-2a9816c656e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Hoje vamos apresentar a interface do AutoAudit, que audita políticas de segurança da informação com PLN e devolve uma nota de Saúde de Compliance de 0 a 5. A interface já está publicada na nuvem. Importante avisar logo de início: nesta versão os resultados são simulados, enquanto o backend não está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(1 min). O fluxo tem quatro momentos: enviar o documento, analisar, ver o resultado e consultar o histórico. A nota de Saúde de Compliance combina duas avaliações: a documental (a política é clara e completa?) e a prática (os controles existem de fato?).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(1 min). Frontend e banco estão prontos. Backend com PLN real e Verificação Prática ficam para a Sprint 3. Por isso a interface mostra dados simulados, e isso aparece escrito na própria barra lateral do app. O que está decidido é o formato dos dados, que é o mesmo da coleção relatórios do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1 (1 min). Upload de PDF ou DOCX e uma chave para incluir a Verificação Prática. Quando ligada, aparece o aviso de que os testes rodam apenas contra o laboratório isolado: DVWA, Juice Shop e Metasploitable. O botão Analisar política fica desabilitado até haver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2 (1 min 30). A nota principal é a Saúde de Compliance. Hoje ela é a média simples da nota documental e da prática; é uma regra provisória. Se a Verificação Prática não rodou, a nota considera só a parte documental. Abaixo ficam as abas de lacunas e de verificação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 da auditoria (1 min 30). Cada lacuna mostra o trecho original da política, o problema, a referência normativa, a técnica MITRE ATT&amp;CK quando existe e uma sugestão de nova redação pronta para copiar. A aba de verificação compara esperado e observado e mostra quantos controles falharam. A interface avisa sobre falsos positivos: o AutoAudit é um assistente, não substitui o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Estados especiais (1 min). Quando a Verificação Prática não é executada, o app trata isso como um estado válido e explica ao usuário. No histórico, o gráfico de evolução é uma prévia: na versão final ele compara versões da mesma política ao longo do tempo. Hoje a lista vale só para a sessão do navegador; com o backend conectado ao MongoDB ela passa a ser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Integração (1 min). O banco foi modelado a partir do que o frontend já devolve. A coleção relatorios tem os mesmos campos do dicionário de analisar_documento(); só a data muda de formato (criado_em é data no banco e texto dd/mm/aaaa na tela). O relatório da Nimbus Logística que está no banco tem a mesma lacuna de senhas que vemos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demonstração. Agora vamos ao app publicado. Seguir o roteiro: docs/roteiro_fala_frontend.md. Plano B: executar localmente com streamlit run frontend/app.py ou usar as capturas dos slides 4 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 (30 s). Sprint 3: motor de PLN real, backend em FastAPI ligado ao banco, carga do CIS e Verificação Prática de verdade. Apresentação final em 24/11.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Perguntas. O repositório está em github.com/A-Capelini/AutoAudit.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_ESCURA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AutoAudit — PLN · Fatec Cotia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AutoAudit — PLN · Fatec Cotia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FATEC COTIA · CIÊNCIA DE DADOS · PLN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AutoAudit</a:t>
            </a:r>
            <a:endParaRPr lang="en-US" sz="54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Interface de auditoria</a:t>
            </a:r>
            <a:endParaRPr lang="en-US" sz="2400" dirty="0"/>
          </a:p>
        </p:txBody>
      </p:sp>
      <p:sp>
        <p:nvSpPr>
          <p:cNvPr id="5" name="Descrição"/>
          <p:cNvSpPr txBox="1"/>
          <p:nvPr/>
        </p:nvSpPr>
        <p:spPr>
          <a:xfrm>
            <a:off x="54864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Frontend em Streamlit, publicado na nuvem</a:t>
            </a:r>
            <a:endParaRPr lang="en-US" sz="1600" dirty="0"/>
          </a:p>
        </p:txBody>
      </p:sp>
      <p:sp>
        <p:nvSpPr>
          <p:cNvPr id="6" name="Equipe"/>
          <p:cNvSpPr txBox="1"/>
          <p:nvPr/>
        </p:nvSpPr>
        <p:spPr>
          <a:xfrm>
            <a:off x="548640" y="3840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Anderson Capelini Andrade · RA 2701352423046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Moisés Germano Leite · RA 2701352423043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Prof. Braz Izaias da Silva Junior · 27/10/2026</a:t>
            </a:r>
            <a:endParaRPr lang="en-US" sz="1200" dirty="0"/>
          </a:p>
        </p:txBody>
      </p:sp>
      <p:sp>
        <p:nvSpPr>
          <p:cNvPr id="7" name="Cartão nota"/>
          <p:cNvSpPr/>
          <p:nvPr/>
        </p:nvSpPr>
        <p:spPr>
          <a:xfrm>
            <a:off x="6126480" y="118872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Saúde de Compliance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783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pPr algn="ctr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 / 5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Conformidade baixa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interface faz</a:t>
            </a:r>
            <a:endParaRPr lang="en-US" sz="3200" dirty="0"/>
          </a:p>
        </p:txBody>
      </p:sp>
      <p:sp>
        <p:nvSpPr>
          <p:cNvPr id="3" name="Resumo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 analista envia a política de segurança da empresa e recebe um diagnóstico com notas, lacunas e sugestões de correção.</a:t>
            </a:r>
            <a:endParaRPr lang="en-US" sz="1600" dirty="0"/>
          </a:p>
        </p:txBody>
      </p:sp>
      <p:sp>
        <p:nvSpPr>
          <p:cNvPr id="4" name="Cartão passo 1"/>
          <p:cNvSpPr/>
          <p:nvPr/>
        </p:nvSpPr>
        <p:spPr>
          <a:xfrm>
            <a:off x="457200" y="192024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5" name="Fundo ícone 1"/>
          <p:cNvSpPr/>
          <p:nvPr/>
        </p:nvSpPr>
        <p:spPr>
          <a:xfrm>
            <a:off x="594360" y="2103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Enviar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PDF ou DOCX da política, com a opção de incluir a Verificação Prática.</a:t>
            </a:r>
            <a:endParaRPr lang="en-US" sz="1300" dirty="0"/>
          </a:p>
        </p:txBody>
      </p:sp>
      <p:sp>
        <p:nvSpPr>
          <p:cNvPr id="9" name="Cartão passo 2"/>
          <p:cNvSpPr/>
          <p:nvPr/>
        </p:nvSpPr>
        <p:spPr>
          <a:xfrm>
            <a:off x="2560320" y="192024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0" name="Fundo ícone 2"/>
          <p:cNvSpPr/>
          <p:nvPr/>
        </p:nvSpPr>
        <p:spPr>
          <a:xfrm>
            <a:off x="2697480" y="2103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Analisar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PLN compara cada cláusula com a base normativa (NIST, LGPD) e aponta lacunas.</a:t>
            </a:r>
            <a:endParaRPr lang="en-US" sz="1300" dirty="0"/>
          </a:p>
        </p:txBody>
      </p:sp>
      <p:sp>
        <p:nvSpPr>
          <p:cNvPr id="14" name="Cartão passo 3"/>
          <p:cNvSpPr/>
          <p:nvPr/>
        </p:nvSpPr>
        <p:spPr>
          <a:xfrm>
            <a:off x="4663440" y="192024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5" name="Fundo ícone 3"/>
          <p:cNvSpPr/>
          <p:nvPr/>
        </p:nvSpPr>
        <p:spPr>
          <a:xfrm>
            <a:off x="4800600" y="2103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40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006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Resultado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80060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Nota 0–5, lacunas por severidade, sugestão de redação e testes práticos.</a:t>
            </a:r>
            <a:endParaRPr lang="en-US" sz="1300" dirty="0"/>
          </a:p>
        </p:txBody>
      </p:sp>
      <p:sp>
        <p:nvSpPr>
          <p:cNvPr id="19" name="Cartão passo 4"/>
          <p:cNvSpPr/>
          <p:nvPr/>
        </p:nvSpPr>
        <p:spPr>
          <a:xfrm>
            <a:off x="6766560" y="192024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20" name="Fundo ícone 4"/>
          <p:cNvSpPr/>
          <p:nvPr/>
        </p:nvSpPr>
        <p:spPr>
          <a:xfrm>
            <a:off x="6903720" y="2103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2402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Histórico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Auditorias anteriores e evolução da nota ao longo do tempo.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frontend se encaixa</a:t>
            </a:r>
            <a:endParaRPr lang="en-US" sz="3200" dirty="0"/>
          </a:p>
        </p:txBody>
      </p:sp>
      <p:sp>
        <p:nvSpPr>
          <p:cNvPr id="3" name="Bloco Frontend"/>
          <p:cNvSpPr/>
          <p:nvPr/>
        </p:nvSpPr>
        <p:spPr>
          <a:xfrm>
            <a:off x="45720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Faixa Frontend"/>
          <p:cNvSpPr/>
          <p:nvPr/>
        </p:nvSpPr>
        <p:spPr>
          <a:xfrm>
            <a:off x="457200" y="1280160"/>
            <a:ext cx="19202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undo ícone Frontend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Streamlit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Pronto e publicado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autoaudit.streamlit.app</a:t>
            </a:r>
            <a:endParaRPr lang="en-US" sz="1200" dirty="0"/>
          </a:p>
        </p:txBody>
      </p:sp>
      <p:sp>
        <p:nvSpPr>
          <p:cNvPr id="11" name="Bloco Backend + PLN"/>
          <p:cNvSpPr/>
          <p:nvPr/>
        </p:nvSpPr>
        <p:spPr>
          <a:xfrm>
            <a:off x="256032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2" name="Faixa Backend + PLN"/>
          <p:cNvSpPr/>
          <p:nvPr/>
        </p:nvSpPr>
        <p:spPr>
          <a:xfrm>
            <a:off x="2560320" y="1280160"/>
            <a:ext cx="1920240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Fundo ícone Backend + PLN"/>
          <p:cNvSpPr/>
          <p:nvPr/>
        </p:nvSpPr>
        <p:spPr>
          <a:xfrm>
            <a:off x="269748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7830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9748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+ PLN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FastAPI, LangChain, FAISS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6974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Sprint 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69748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Hoje: dados simulados</a:t>
            </a:r>
            <a:endParaRPr lang="en-US" sz="1200" dirty="0"/>
          </a:p>
        </p:txBody>
      </p:sp>
      <p:sp>
        <p:nvSpPr>
          <p:cNvPr id="19" name="Bloco Banco de dados"/>
          <p:cNvSpPr/>
          <p:nvPr/>
        </p:nvSpPr>
        <p:spPr>
          <a:xfrm>
            <a:off x="466344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20" name="Faixa Banco de dados"/>
          <p:cNvSpPr/>
          <p:nvPr/>
        </p:nvSpPr>
        <p:spPr>
          <a:xfrm>
            <a:off x="4663440" y="1280160"/>
            <a:ext cx="19202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Fundo ícone Banco de dados"/>
          <p:cNvSpPr/>
          <p:nvPr/>
        </p:nvSpPr>
        <p:spPr>
          <a:xfrm>
            <a:off x="480060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830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0060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Banco de dados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80060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MongoDB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80060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Entregue em 20/10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80060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Modelo já compatível</a:t>
            </a:r>
            <a:endParaRPr lang="en-US" sz="1200" dirty="0"/>
          </a:p>
        </p:txBody>
      </p:sp>
      <p:sp>
        <p:nvSpPr>
          <p:cNvPr id="27" name="Bloco Verificação Prática"/>
          <p:cNvSpPr/>
          <p:nvPr/>
        </p:nvSpPr>
        <p:spPr>
          <a:xfrm>
            <a:off x="676656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28" name="Faixa Verificação Prática"/>
          <p:cNvSpPr/>
          <p:nvPr/>
        </p:nvSpPr>
        <p:spPr>
          <a:xfrm>
            <a:off x="6766560" y="1280160"/>
            <a:ext cx="1920240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Fundo ícone Verificação Prática"/>
          <p:cNvSpPr/>
          <p:nvPr/>
        </p:nvSpPr>
        <p:spPr>
          <a:xfrm>
            <a:off x="6903720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3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90372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Verificação Prática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690372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Pentest em laboratório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90372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Sprint 3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6903720" y="3520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DVWA, Juice Shop, Metasploitable</a:t>
            </a:r>
            <a:endParaRPr lang="en-US" sz="1200" dirty="0"/>
          </a:p>
        </p:txBody>
      </p:sp>
      <p:sp>
        <p:nvSpPr>
          <p:cNvPr id="35" name="Aviso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Os resultados exibidos hoje são simulados. O formato dos dados já é o definitivo: quando o backend existir, só uma função muda.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1 · Nova auditoria</a:t>
            </a:r>
            <a:endParaRPr lang="en-US" sz="3200" dirty="0"/>
          </a:p>
        </p:txBody>
      </p:sp>
      <p:sp>
        <p:nvSpPr>
          <p:cNvPr id="3" name="Moldura Nova auditoria"/>
          <p:cNvSpPr/>
          <p:nvPr/>
        </p:nvSpPr>
        <p:spPr>
          <a:xfrm>
            <a:off x="466344" y="1335024"/>
            <a:ext cx="5468112" cy="231600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4" name="Image 0" descr="Captura da tela: Nova audito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394960" cy="2242849"/>
          </a:xfrm>
          <a:prstGeom prst="rect">
            <a:avLst/>
          </a:prstGeom>
        </p:spPr>
      </p:pic>
      <p:sp>
        <p:nvSpPr>
          <p:cNvPr id="5" name="Barra 1"/>
          <p:cNvSpPr/>
          <p:nvPr/>
        </p:nvSpPr>
        <p:spPr>
          <a:xfrm>
            <a:off x="6263640" y="1280160"/>
            <a:ext cx="54864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280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Upload de PDF ou DOCX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Formatos comuns de política de segurança.</a:t>
            </a:r>
            <a:endParaRPr lang="en-US" sz="1600" dirty="0"/>
          </a:p>
        </p:txBody>
      </p:sp>
      <p:sp>
        <p:nvSpPr>
          <p:cNvPr id="7" name="Barra 2"/>
          <p:cNvSpPr/>
          <p:nvPr/>
        </p:nvSpPr>
        <p:spPr>
          <a:xfrm>
            <a:off x="6263640" y="2331720"/>
            <a:ext cx="54864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2331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Verificação Prática opcional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Liga ou desliga os testes em laboratório.</a:t>
            </a:r>
            <a:endParaRPr lang="en-US" sz="1600" dirty="0"/>
          </a:p>
        </p:txBody>
      </p:sp>
      <p:sp>
        <p:nvSpPr>
          <p:cNvPr id="9" name="Barra 3"/>
          <p:cNvSpPr/>
          <p:nvPr/>
        </p:nvSpPr>
        <p:spPr>
          <a:xfrm>
            <a:off x="6263640" y="3383280"/>
            <a:ext cx="54864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Escopo explícito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Testes só contra o laboratório isolado.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 botão só habilita depois que um arquivo é enviado.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 2 · Resultado da auditoria</a:t>
            </a:r>
            <a:endParaRPr lang="en-US" sz="3200" dirty="0"/>
          </a:p>
        </p:txBody>
      </p:sp>
      <p:sp>
        <p:nvSpPr>
          <p:cNvPr id="3" name="Moldura Resultado"/>
          <p:cNvSpPr/>
          <p:nvPr/>
        </p:nvSpPr>
        <p:spPr>
          <a:xfrm>
            <a:off x="466344" y="1197864"/>
            <a:ext cx="4919472" cy="334033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4" name="Image 0" descr="Captura da tela: Resul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846320" cy="3267182"/>
          </a:xfrm>
          <a:prstGeom prst="rect">
            <a:avLst/>
          </a:prstGeom>
        </p:spPr>
      </p:pic>
      <p:sp>
        <p:nvSpPr>
          <p:cNvPr id="5" name="Barra 1"/>
          <p:cNvSpPr/>
          <p:nvPr/>
        </p:nvSpPr>
        <p:spPr>
          <a:xfrm>
            <a:off x="5669280" y="1280160"/>
            <a:ext cx="54864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280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Saúde de Compliance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Nota de 0 a 5, barra de progresso e faixa (de crítica a boa conformidade).</a:t>
            </a:r>
            <a:endParaRPr lang="en-US" sz="1600" dirty="0"/>
          </a:p>
        </p:txBody>
      </p:sp>
      <p:sp>
        <p:nvSpPr>
          <p:cNvPr id="7" name="Barra 2"/>
          <p:cNvSpPr/>
          <p:nvPr/>
        </p:nvSpPr>
        <p:spPr>
          <a:xfrm>
            <a:off x="5669280" y="2331720"/>
            <a:ext cx="54864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331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Duas notas de apoio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Documental: a política é clara? Prática: os controles existem?</a:t>
            </a:r>
            <a:endParaRPr lang="en-US" sz="1600" dirty="0"/>
          </a:p>
        </p:txBody>
      </p:sp>
      <p:sp>
        <p:nvSpPr>
          <p:cNvPr id="9" name="Barra 3"/>
          <p:cNvSpPr/>
          <p:nvPr/>
        </p:nvSpPr>
        <p:spPr>
          <a:xfrm>
            <a:off x="5669280" y="3383280"/>
            <a:ext cx="54864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33832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Filtro por severidade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Alta, média e baixa, para priorizar as correções.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analista recebe</a:t>
            </a:r>
            <a:endParaRPr lang="en-US" sz="3200" dirty="0"/>
          </a:p>
        </p:txBody>
      </p:sp>
      <p:sp>
        <p:nvSpPr>
          <p:cNvPr id="3" name="Moldura Lacuna"/>
          <p:cNvSpPr/>
          <p:nvPr/>
        </p:nvSpPr>
        <p:spPr>
          <a:xfrm>
            <a:off x="466344" y="1197864"/>
            <a:ext cx="4005072" cy="274597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4" name="Image 0" descr="Captura da tela: Lacu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931920" cy="2672822"/>
          </a:xfrm>
          <a:prstGeom prst="rect">
            <a:avLst/>
          </a:prstGeom>
        </p:spPr>
      </p:pic>
      <p:sp>
        <p:nvSpPr>
          <p:cNvPr id="5" name="Moldura Verificação"/>
          <p:cNvSpPr/>
          <p:nvPr/>
        </p:nvSpPr>
        <p:spPr>
          <a:xfrm>
            <a:off x="4764024" y="1197864"/>
            <a:ext cx="3913632" cy="136769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6" name="Image 1" descr="Captura da tela: Verific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3840480" cy="1294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Lacuna: trecho original, problema, norma de referência, técnica MITRE e nova redação.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80060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Verificação prática: o que a política exige (esperado) contra o que o ambiente tem (observado).</a:t>
            </a:r>
            <a:endParaRPr lang="en-US" sz="1300" dirty="0"/>
          </a:p>
        </p:txBody>
      </p:sp>
      <p:sp>
        <p:nvSpPr>
          <p:cNvPr id="9" name="Aviso falsos positivos"/>
          <p:cNvSpPr/>
          <p:nvPr/>
        </p:nvSpPr>
        <p:spPr>
          <a:xfrm>
            <a:off x="4800600" y="347472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accent6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937760" y="3520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Scanners automatizados podem gerar falsos positivos. A interface avisa e pede validação por um analista.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verificação e histórico</a:t>
            </a:r>
            <a:endParaRPr lang="en-US" sz="3200" dirty="0"/>
          </a:p>
        </p:txBody>
      </p:sp>
      <p:sp>
        <p:nvSpPr>
          <p:cNvPr id="3" name="Moldura Sem verificação prática"/>
          <p:cNvSpPr/>
          <p:nvPr/>
        </p:nvSpPr>
        <p:spPr>
          <a:xfrm>
            <a:off x="466344" y="1197864"/>
            <a:ext cx="4005072" cy="219373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4" name="Image 0" descr="Captura da tela: Sem verificação prát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931920" cy="2120586"/>
          </a:xfrm>
          <a:prstGeom prst="rect">
            <a:avLst/>
          </a:prstGeom>
        </p:spPr>
      </p:pic>
      <p:sp>
        <p:nvSpPr>
          <p:cNvPr id="5" name="Moldura Histórico"/>
          <p:cNvSpPr/>
          <p:nvPr/>
        </p:nvSpPr>
        <p:spPr>
          <a:xfrm>
            <a:off x="4764024" y="1197864"/>
            <a:ext cx="3913632" cy="231702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6" name="Image 1" descr="Captura da tela: Histór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3840480" cy="22438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3611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 Verificação Prática, a nota prática aparece como “—” e a Saúde de Compliance usa só a parte documental.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800600" y="3657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Histórico: tabela das auditorias, prévia do gráfico de evolução (na versão final, por política) e reabertura de qualquer resultado.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frontend ao banco de dados</a:t>
            </a:r>
            <a:endParaRPr lang="en-US" sz="3200" dirty="0"/>
          </a:p>
        </p:txBody>
      </p:sp>
      <p:sp>
        <p:nvSpPr>
          <p:cNvPr id="3" name="Cartão frontend"/>
          <p:cNvSpPr/>
          <p:nvPr/>
        </p:nvSpPr>
        <p:spPr>
          <a:xfrm>
            <a:off x="457200" y="132588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Frontend · analisar_documento()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arquivo, data,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nota_documental, nota_pratica,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saude_compliance,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lacunas: [ …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verificacoes: [ … ] | null }</a:t>
            </a:r>
            <a:endParaRPr lang="en-US" sz="1300" dirty="0"/>
          </a:p>
        </p:txBody>
      </p:sp>
      <p:sp>
        <p:nvSpPr>
          <p:cNvPr id="6" name="Seta"/>
          <p:cNvSpPr/>
          <p:nvPr/>
        </p:nvSpPr>
        <p:spPr>
          <a:xfrm>
            <a:off x="4434840" y="2286000"/>
            <a:ext cx="45720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rtão banco"/>
          <p:cNvSpPr/>
          <p:nvPr/>
        </p:nvSpPr>
        <p:spPr>
          <a:xfrm>
            <a:off x="5029200" y="1325880"/>
            <a:ext cx="365760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2120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MongoDB · coleção relatorios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828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arquivo, criado_em,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nota_documental, nota_pratica,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saude_compliance,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lacunas: [ …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verificacoes: [ … ] | null 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Mesmos nomes de campo nos dois lados: o backend grava e lê sem tradução.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 conectar, o frontend troca só a função que simula a análise por uma chamada à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autoaudit.streamlit.app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Enviar uma política com a Verificação Prática ligada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Abrir uma lacuna e ler a sugestão de redação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Ver os testes práticos e o filtro por severidade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Enviar outra política sem a Verificação Prática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1"/>
                </a:solidFill>
              </a:rPr>
              <a:t>Consultar o Histórico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(Sprint 3)</a:t>
            </a:r>
            <a:endParaRPr lang="en-US" sz="3200" dirty="0"/>
          </a:p>
        </p:txBody>
      </p:sp>
      <p:sp>
        <p:nvSpPr>
          <p:cNvPr id="3" name="Cartão próximo 1"/>
          <p:cNvSpPr/>
          <p:nvPr/>
        </p:nvSpPr>
        <p:spPr>
          <a:xfrm>
            <a:off x="457200" y="123444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4" name="Fundo ícone próximo 1"/>
          <p:cNvSpPr/>
          <p:nvPr/>
        </p:nvSpPr>
        <p:spPr>
          <a:xfrm>
            <a:off x="594360" y="13624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8132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PLN real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Testar o motor com os modelos de política SANS, extrair lacunas do documento e normalizar a severidade.</a:t>
            </a:r>
            <a:endParaRPr lang="en-US" sz="1600" dirty="0"/>
          </a:p>
        </p:txBody>
      </p:sp>
      <p:sp>
        <p:nvSpPr>
          <p:cNvPr id="7" name="Cartão próximo 2"/>
          <p:cNvSpPr/>
          <p:nvPr/>
        </p:nvSpPr>
        <p:spPr>
          <a:xfrm>
            <a:off x="457200" y="205740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8" name="Fundo ícone próximo 2"/>
          <p:cNvSpPr/>
          <p:nvPr/>
        </p:nvSpPr>
        <p:spPr>
          <a:xfrm>
            <a:off x="594360" y="21854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0428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0574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e banco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API em FastAPI gravando e lendo o MongoDB; histórico permanente.</a:t>
            </a:r>
            <a:endParaRPr lang="en-US" sz="1600" dirty="0"/>
          </a:p>
        </p:txBody>
      </p:sp>
      <p:sp>
        <p:nvSpPr>
          <p:cNvPr id="11" name="Cartão próximo 3"/>
          <p:cNvSpPr/>
          <p:nvPr/>
        </p:nvSpPr>
        <p:spPr>
          <a:xfrm>
            <a:off x="457200" y="288036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2" name="Fundo ícone próximo 3"/>
          <p:cNvSpPr/>
          <p:nvPr/>
        </p:nvSpPr>
        <p:spPr>
          <a:xfrm>
            <a:off x="594360" y="30083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12724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8803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Mais normas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Carregar o CIS Controls e completar os mapeamentos entre normas.</a:t>
            </a:r>
            <a:endParaRPr lang="en-US" sz="1600" dirty="0"/>
          </a:p>
        </p:txBody>
      </p:sp>
      <p:sp>
        <p:nvSpPr>
          <p:cNvPr id="15" name="Cartão próximo 4"/>
          <p:cNvSpPr/>
          <p:nvPr/>
        </p:nvSpPr>
        <p:spPr>
          <a:xfrm>
            <a:off x="457200" y="3703320"/>
            <a:ext cx="8229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sp>
        <p:nvSpPr>
          <p:cNvPr id="16" name="Fundo ícone próximo 4"/>
          <p:cNvSpPr/>
          <p:nvPr/>
        </p:nvSpPr>
        <p:spPr>
          <a:xfrm>
            <a:off x="594360" y="38313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95020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7033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Verificação Prática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Pentest controlado no laboratório, com resultados reais na interface.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Apresentação final: 24/11/2026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6"/>
                </a:solidFill>
              </a:rPr>
              <a:t>Perguntas?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Anderson Capelini Andrade · RA 2701352423046   |   Moisés Germano Leite · RA 2701352423043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Audit">
  <a:themeElements>
    <a:clrScheme name="AutoAudit">
      <a:dk1>
        <a:srgbClr val="14213D"/>
      </a:dk1>
      <a:lt1>
        <a:srgbClr val="FFFFFF"/>
      </a:lt1>
      <a:dk2>
        <a:srgbClr val="0F766E"/>
      </a:dk2>
      <a:lt2>
        <a:srgbClr val="F6F8FA"/>
      </a:lt2>
      <a:accent1>
        <a:srgbClr val="0F766E"/>
      </a:accent1>
      <a:accent2>
        <a:srgbClr val="14213D"/>
      </a:accent2>
      <a:accent3>
        <a:srgbClr val="B45309"/>
      </a:accent3>
      <a:accent4>
        <a:srgbClr val="B42318"/>
      </a:accent4>
      <a:accent5>
        <a:srgbClr val="475467"/>
      </a:accent5>
      <a:accent6>
        <a:srgbClr val="5EEAD4"/>
      </a:accent6>
      <a:hlink>
        <a:srgbClr val="0F766E"/>
      </a:hlink>
      <a:folHlink>
        <a:srgbClr val="475467"/>
      </a:folHlink>
    </a:clrScheme>
    <a:fontScheme name="Auto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AutoAudit — Apresentação do frontend</dc:title>
  <dc:subject>Frontend (Streamlit) — PLN, Fatec Cotia</dc:subject>
  <dc:creator>Anderson Capelini Andrade e Moisés Germano Leite</dc:creator>
  <cp:lastModifiedBy>Anderson Capelini Andrade e Moisés Germano Leite</cp:lastModifiedBy>
  <cp:revision>1</cp:revision>
  <dcterms:created xsi:type="dcterms:W3CDTF">2026-10-27T18:41:22Z</dcterms:created>
  <dcterms:modified xsi:type="dcterms:W3CDTF">2026-10-27T18:41:22Z</dcterms:modified>
</cp:coreProperties>
</file>